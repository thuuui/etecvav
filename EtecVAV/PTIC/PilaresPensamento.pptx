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embeddedFontLst>
    <p:embeddedFont>
      <p:font typeface="Quattrocento"/>
      <p:regular r:id="rId27"/>
    </p:embeddedFont>
    <p:embeddedFont>
      <p:font typeface="Quattrocento"/>
      <p:regular r:id="rId28"/>
    </p:embeddedFont>
    <p:embeddedFont>
      <p:font typeface="Quattrocento"/>
      <p:regular r:id="rId29"/>
    </p:embeddedFont>
    <p:embeddedFont>
      <p:font typeface="Quattrocento"/>
      <p:regular r:id="rId3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4-1.pn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5-1.pn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6-1.png"/><Relationship Id="rId3"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7-1.png"/><Relationship Id="rId3"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8-1.png"/><Relationship Id="rId3"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9-1.png"/><Relationship Id="rId3"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0-1.png"/><Relationship Id="rId3"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2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C4241"/>
          </a:solidFill>
          <a:ln/>
        </p:spPr>
      </p:sp>
      <p:sp>
        <p:nvSpPr>
          <p:cNvPr id="3" name="Shape 1"/>
          <p:cNvSpPr/>
          <p:nvPr/>
        </p:nvSpPr>
        <p:spPr>
          <a:xfrm>
            <a:off x="0" y="0"/>
            <a:ext cx="9144000" cy="51435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5.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svg"/><Relationship Id="rId13" Type="http://schemas.openxmlformats.org/officeDocument/2006/relationships/slideLayout" Target="../slideLayouts/slideLayout7.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basenacionalcomum.mec.gov.br/" TargetMode="External"/><Relationship Id="rId2" Type="http://schemas.openxmlformats.org/officeDocument/2006/relationships/hyperlink" Target="https://www.computationalthinking.org/" TargetMode="External"/><Relationship Id="rId3" Type="http://schemas.openxmlformats.org/officeDocument/2006/relationships/hyperlink" Target="https://edu.google.com/resources/programs/exploring-computational-thinking/" TargetMode="External"/><Relationship Id="rId4" Type="http://schemas.openxmlformats.org/officeDocument/2006/relationships/hyperlink" Target="https://mitpress.mit.edu/9780465046744/mindstorms/" TargetMode="External"/><Relationship Id="rId5" Type="http://schemas.openxmlformats.org/officeDocument/2006/relationships/hyperlink" Target="https://www.microsoft.com/en-us/research/publication/computational-thinking-and-thinking-about-computing/" TargetMode="External"/><Relationship Id="rId6" Type="http://schemas.openxmlformats.org/officeDocument/2006/relationships/slideLayout" Target="../slideLayouts/slideLayout20.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902247" y="906810"/>
            <a:ext cx="5339432" cy="384944"/>
          </a:xfrm>
          <a:prstGeom prst="rect">
            <a:avLst/>
          </a:prstGeom>
          <a:noFill/>
          <a:ln/>
        </p:spPr>
        <p:txBody>
          <a:bodyPr wrap="none" lIns="0" tIns="0" rIns="0" bIns="0" rtlCol="0" anchor="t"/>
          <a:lstStyle/>
          <a:p>
            <a:pPr algn="ctr" indent="0" marL="0">
              <a:lnSpc>
                <a:spcPts val="3000"/>
              </a:lnSpc>
              <a:buNone/>
            </a:pPr>
            <a:r>
              <a:rPr lang="en-US" sz="2400" dirty="0">
                <a:solidFill>
                  <a:srgbClr val="FFD9BE"/>
                </a:solidFill>
                <a:latin typeface="Quattrocento" pitchFamily="34" charset="0"/>
                <a:ea typeface="Quattrocento" pitchFamily="34" charset="-122"/>
                <a:cs typeface="Quattrocento" pitchFamily="34" charset="-120"/>
              </a:rPr>
              <a:t>Pilares do Pensamento Computacional</a:t>
            </a:r>
            <a:endParaRPr lang="en-US" sz="2400" dirty="0"/>
          </a:p>
        </p:txBody>
      </p:sp>
      <p:sp>
        <p:nvSpPr>
          <p:cNvPr id="3" name="Text 1"/>
          <p:cNvSpPr/>
          <p:nvPr/>
        </p:nvSpPr>
        <p:spPr>
          <a:xfrm>
            <a:off x="523577" y="1553542"/>
            <a:ext cx="8096845" cy="209401"/>
          </a:xfrm>
          <a:prstGeom prst="rect">
            <a:avLst/>
          </a:prstGeom>
          <a:noFill/>
          <a:ln/>
        </p:spPr>
        <p:txBody>
          <a:bodyPr wrap="none" lIns="0" tIns="0" rIns="0" bIns="0" rtlCol="0" anchor="t"/>
          <a:lstStyle/>
          <a:p>
            <a:pPr algn="ctr" indent="0" marL="0">
              <a:lnSpc>
                <a:spcPts val="1600"/>
              </a:lnSpc>
              <a:buNone/>
            </a:pPr>
            <a:endParaRPr lang="en-US" sz="1000" dirty="0"/>
          </a:p>
        </p:txBody>
      </p:sp>
      <p:sp>
        <p:nvSpPr>
          <p:cNvPr id="4" name="Text 2"/>
          <p:cNvSpPr/>
          <p:nvPr/>
        </p:nvSpPr>
        <p:spPr>
          <a:xfrm>
            <a:off x="523577" y="1910209"/>
            <a:ext cx="8096845" cy="209401"/>
          </a:xfrm>
          <a:prstGeom prst="rect">
            <a:avLst/>
          </a:prstGeom>
          <a:noFill/>
          <a:ln/>
        </p:spPr>
        <p:txBody>
          <a:bodyPr wrap="none" lIns="0" tIns="0" rIns="0" bIns="0" rtlCol="0" anchor="t"/>
          <a:lstStyle/>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Uma abordagem estruturada para resolver problemas complexos no mundo digital</a:t>
            </a:r>
            <a:endParaRPr lang="en-US" sz="1000" dirty="0"/>
          </a:p>
        </p:txBody>
      </p:sp>
      <p:sp>
        <p:nvSpPr>
          <p:cNvPr id="5" name="Text 3"/>
          <p:cNvSpPr/>
          <p:nvPr/>
        </p:nvSpPr>
        <p:spPr>
          <a:xfrm>
            <a:off x="523577" y="2266876"/>
            <a:ext cx="8096845" cy="209401"/>
          </a:xfrm>
          <a:prstGeom prst="rect">
            <a:avLst/>
          </a:prstGeom>
          <a:noFill/>
          <a:ln/>
        </p:spPr>
        <p:txBody>
          <a:bodyPr wrap="none" lIns="0" tIns="0" rIns="0" bIns="0" rtlCol="0" anchor="t"/>
          <a:lstStyle/>
          <a:p>
            <a:pPr algn="ctr" indent="0" marL="0">
              <a:lnSpc>
                <a:spcPts val="1600"/>
              </a:lnSpc>
              <a:buNone/>
            </a:pPr>
            <a:endParaRPr lang="en-US" sz="1000" dirty="0"/>
          </a:p>
        </p:txBody>
      </p:sp>
      <p:sp>
        <p:nvSpPr>
          <p:cNvPr id="6" name="Text 4"/>
          <p:cNvSpPr/>
          <p:nvPr/>
        </p:nvSpPr>
        <p:spPr>
          <a:xfrm>
            <a:off x="523577" y="2623542"/>
            <a:ext cx="8096845" cy="1256407"/>
          </a:xfrm>
          <a:prstGeom prst="rect">
            <a:avLst/>
          </a:prstGeom>
          <a:noFill/>
          <a:ln/>
        </p:spPr>
        <p:txBody>
          <a:bodyPr wrap="square" lIns="0" tIns="0" rIns="0" bIns="0" rtlCol="0" anchor="t"/>
          <a:lstStyle/>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Arthur Muniz de Andrade</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Emanuel  Albuquerque de Almeida Finamore</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Gustavo Henrique Ribeiro Cecato</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João Paulo Camargo Olivieri</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Tiago Silva Siqueira</a:t>
            </a:r>
            <a:endParaRPr lang="en-US" sz="1000" dirty="0"/>
          </a:p>
        </p:txBody>
      </p:sp>
      <p:sp>
        <p:nvSpPr>
          <p:cNvPr id="7" name="Text 5"/>
          <p:cNvSpPr/>
          <p:nvPr/>
        </p:nvSpPr>
        <p:spPr>
          <a:xfrm>
            <a:off x="523577" y="4027215"/>
            <a:ext cx="8096845" cy="209401"/>
          </a:xfrm>
          <a:prstGeom prst="rect">
            <a:avLst/>
          </a:prstGeom>
          <a:noFill/>
          <a:ln/>
        </p:spPr>
        <p:txBody>
          <a:bodyPr wrap="none" lIns="0" tIns="0" rIns="0" bIns="0" rtlCol="0" anchor="t"/>
          <a:lstStyle/>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24.04.2026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23577" y="1287512"/>
            <a:ext cx="4309542" cy="1256407"/>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O pensamento computacional é uma habilidade cada vez mais importante no mundo contemporâneo, especialmente em uma sociedade fortemente influenciada pela tecnologia e pela informação digital. Esse conceito está relacionado à forma como os indivíduos analisam problemas, organizam informações e desenvolvem soluções de maneira lógica e estruturada.</a:t>
            </a:r>
            <a:endParaRPr lang="en-US" sz="1000" dirty="0"/>
          </a:p>
        </p:txBody>
      </p:sp>
      <p:sp>
        <p:nvSpPr>
          <p:cNvPr id="3" name="Text 1"/>
          <p:cNvSpPr/>
          <p:nvPr/>
        </p:nvSpPr>
        <p:spPr>
          <a:xfrm>
            <a:off x="523577" y="2661717"/>
            <a:ext cx="4309542"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Embora esteja frequentemente associado à área da computação, o pensamento computacional pode ser aplicado em diversas áreas do conhecimento e também em situações do cotidiano.</a:t>
            </a:r>
            <a:endParaRPr lang="en-US" sz="1000" dirty="0"/>
          </a:p>
        </p:txBody>
      </p:sp>
      <p:sp>
        <p:nvSpPr>
          <p:cNvPr id="4" name="Text 2"/>
          <p:cNvSpPr/>
          <p:nvPr/>
        </p:nvSpPr>
        <p:spPr>
          <a:xfrm>
            <a:off x="5157267" y="1300609"/>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FD9BE"/>
                </a:solidFill>
                <a:latin typeface="Quattrocento" pitchFamily="34" charset="0"/>
                <a:ea typeface="Quattrocento" pitchFamily="34" charset="-122"/>
                <a:cs typeface="Quattrocento" pitchFamily="34" charset="-120"/>
              </a:rPr>
              <a:t>Origem do Conceito</a:t>
            </a:r>
            <a:endParaRPr lang="en-US" sz="1200" dirty="0"/>
          </a:p>
        </p:txBody>
      </p:sp>
      <p:sp>
        <p:nvSpPr>
          <p:cNvPr id="5" name="Text 3"/>
          <p:cNvSpPr/>
          <p:nvPr/>
        </p:nvSpPr>
        <p:spPr>
          <a:xfrm>
            <a:off x="5157267" y="1624012"/>
            <a:ext cx="3467919" cy="1047006"/>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O termo ganhou destaque a partir dos estudos de pesquisadores da área de ciência da computação, que perceberam que os métodos utilizados para resolver problemas computacionais poderiam ser úteis para resolver problemas de outras áreas.</a:t>
            </a:r>
            <a:endParaRPr lang="en-US" sz="1000" dirty="0"/>
          </a:p>
        </p:txBody>
      </p:sp>
      <p:sp>
        <p:nvSpPr>
          <p:cNvPr id="6" name="Text 4"/>
          <p:cNvSpPr/>
          <p:nvPr/>
        </p:nvSpPr>
        <p:spPr>
          <a:xfrm>
            <a:off x="523577" y="3554983"/>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2</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435298" y="1846436"/>
            <a:ext cx="6273403" cy="770037"/>
          </a:xfrm>
          <a:prstGeom prst="rect">
            <a:avLst/>
          </a:prstGeom>
          <a:noFill/>
          <a:ln/>
        </p:spPr>
        <p:txBody>
          <a:bodyPr wrap="non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Por Que é Importante?</a:t>
            </a:r>
            <a:endParaRPr lang="en-US" sz="4850" dirty="0"/>
          </a:p>
        </p:txBody>
      </p:sp>
      <p:sp>
        <p:nvSpPr>
          <p:cNvPr id="3" name="Text 1"/>
          <p:cNvSpPr/>
          <p:nvPr/>
        </p:nvSpPr>
        <p:spPr>
          <a:xfrm>
            <a:off x="523577" y="2878262"/>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3</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23577" y="1058689"/>
            <a:ext cx="2611636" cy="1893987"/>
          </a:xfrm>
          <a:prstGeom prst="roundRect">
            <a:avLst>
              <a:gd name="adj" fmla="val 1037"/>
            </a:avLst>
          </a:prstGeom>
          <a:solidFill>
            <a:srgbClr val="315251"/>
          </a:solidFill>
          <a:ln/>
        </p:spPr>
      </p:sp>
      <p:sp>
        <p:nvSpPr>
          <p:cNvPr id="3" name="Shape 1"/>
          <p:cNvSpPr/>
          <p:nvPr/>
        </p:nvSpPr>
        <p:spPr>
          <a:xfrm>
            <a:off x="654472" y="1189583"/>
            <a:ext cx="392683" cy="392683"/>
          </a:xfrm>
          <a:prstGeom prst="roundRect">
            <a:avLst>
              <a:gd name="adj" fmla="val 14552269"/>
            </a:avLst>
          </a:prstGeom>
          <a:solidFill>
            <a:srgbClr val="EF9C82"/>
          </a:solidFill>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62446" y="1297558"/>
            <a:ext cx="176659" cy="176659"/>
          </a:xfrm>
          <a:prstGeom prst="rect">
            <a:avLst/>
          </a:prstGeom>
        </p:spPr>
      </p:pic>
      <p:sp>
        <p:nvSpPr>
          <p:cNvPr id="5" name="Text 2"/>
          <p:cNvSpPr/>
          <p:nvPr/>
        </p:nvSpPr>
        <p:spPr>
          <a:xfrm>
            <a:off x="654472" y="1713161"/>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Pensamento Crítico</a:t>
            </a:r>
            <a:endParaRPr lang="en-US" sz="1200" dirty="0"/>
          </a:p>
        </p:txBody>
      </p:sp>
      <p:sp>
        <p:nvSpPr>
          <p:cNvPr id="6" name="Text 3"/>
          <p:cNvSpPr/>
          <p:nvPr/>
        </p:nvSpPr>
        <p:spPr>
          <a:xfrm>
            <a:off x="654472" y="1984177"/>
            <a:ext cx="2349847"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Desenvolve a capacidade de analisar diferentes situações, identificar possíveis soluções e avaliar qual delas é mais adequada</a:t>
            </a:r>
            <a:endParaRPr lang="en-US" sz="1000" dirty="0"/>
          </a:p>
        </p:txBody>
      </p:sp>
      <p:sp>
        <p:nvSpPr>
          <p:cNvPr id="7" name="Shape 4"/>
          <p:cNvSpPr/>
          <p:nvPr/>
        </p:nvSpPr>
        <p:spPr>
          <a:xfrm>
            <a:off x="3266108" y="1058689"/>
            <a:ext cx="2611710" cy="1893987"/>
          </a:xfrm>
          <a:prstGeom prst="roundRect">
            <a:avLst>
              <a:gd name="adj" fmla="val 1037"/>
            </a:avLst>
          </a:prstGeom>
          <a:solidFill>
            <a:srgbClr val="315251"/>
          </a:solidFill>
          <a:ln/>
        </p:spPr>
      </p:sp>
      <p:sp>
        <p:nvSpPr>
          <p:cNvPr id="8" name="Shape 5"/>
          <p:cNvSpPr/>
          <p:nvPr/>
        </p:nvSpPr>
        <p:spPr>
          <a:xfrm>
            <a:off x="3397002" y="1189583"/>
            <a:ext cx="392683" cy="392683"/>
          </a:xfrm>
          <a:prstGeom prst="roundRect">
            <a:avLst>
              <a:gd name="adj" fmla="val 14552269"/>
            </a:avLst>
          </a:prstGeom>
          <a:solidFill>
            <a:srgbClr val="EF9C82"/>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04977" y="1297558"/>
            <a:ext cx="176659" cy="176659"/>
          </a:xfrm>
          <a:prstGeom prst="rect">
            <a:avLst/>
          </a:prstGeom>
        </p:spPr>
      </p:pic>
      <p:sp>
        <p:nvSpPr>
          <p:cNvPr id="10" name="Text 6"/>
          <p:cNvSpPr/>
          <p:nvPr/>
        </p:nvSpPr>
        <p:spPr>
          <a:xfrm>
            <a:off x="3397002" y="1713161"/>
            <a:ext cx="2108522"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Desenvolvimento Educacional</a:t>
            </a:r>
            <a:endParaRPr lang="en-US" sz="1200" dirty="0"/>
          </a:p>
        </p:txBody>
      </p:sp>
      <p:sp>
        <p:nvSpPr>
          <p:cNvPr id="11" name="Text 7"/>
          <p:cNvSpPr/>
          <p:nvPr/>
        </p:nvSpPr>
        <p:spPr>
          <a:xfrm>
            <a:off x="3397002" y="1984177"/>
            <a:ext cx="2349922"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Incorporado em metodologias de ensino, especialmente nas áreas de matemática, ciência e tecnologia</a:t>
            </a:r>
            <a:endParaRPr lang="en-US" sz="1000" dirty="0"/>
          </a:p>
        </p:txBody>
      </p:sp>
      <p:sp>
        <p:nvSpPr>
          <p:cNvPr id="12" name="Shape 8"/>
          <p:cNvSpPr/>
          <p:nvPr/>
        </p:nvSpPr>
        <p:spPr>
          <a:xfrm>
            <a:off x="6008712" y="1058689"/>
            <a:ext cx="2611710" cy="1893987"/>
          </a:xfrm>
          <a:prstGeom prst="roundRect">
            <a:avLst>
              <a:gd name="adj" fmla="val 1037"/>
            </a:avLst>
          </a:prstGeom>
          <a:solidFill>
            <a:srgbClr val="315251"/>
          </a:solidFill>
          <a:ln/>
        </p:spPr>
      </p:sp>
      <p:sp>
        <p:nvSpPr>
          <p:cNvPr id="13" name="Shape 9"/>
          <p:cNvSpPr/>
          <p:nvPr/>
        </p:nvSpPr>
        <p:spPr>
          <a:xfrm>
            <a:off x="6139607" y="1189583"/>
            <a:ext cx="392683" cy="392683"/>
          </a:xfrm>
          <a:prstGeom prst="roundRect">
            <a:avLst>
              <a:gd name="adj" fmla="val 14552269"/>
            </a:avLst>
          </a:prstGeom>
          <a:solidFill>
            <a:srgbClr val="EF9C82"/>
          </a:solidFill>
          <a:ln/>
        </p:spPr>
      </p:sp>
      <p:pic>
        <p:nvPicPr>
          <p:cNvPr id="14"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47581" y="1297558"/>
            <a:ext cx="176659" cy="176659"/>
          </a:xfrm>
          <a:prstGeom prst="rect">
            <a:avLst/>
          </a:prstGeom>
        </p:spPr>
      </p:pic>
      <p:sp>
        <p:nvSpPr>
          <p:cNvPr id="15" name="Text 10"/>
          <p:cNvSpPr/>
          <p:nvPr/>
        </p:nvSpPr>
        <p:spPr>
          <a:xfrm>
            <a:off x="6139607" y="1713161"/>
            <a:ext cx="1772171"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Competência Profissional</a:t>
            </a:r>
            <a:endParaRPr lang="en-US" sz="1200" dirty="0"/>
          </a:p>
        </p:txBody>
      </p:sp>
      <p:sp>
        <p:nvSpPr>
          <p:cNvPr id="16" name="Text 11"/>
          <p:cNvSpPr/>
          <p:nvPr/>
        </p:nvSpPr>
        <p:spPr>
          <a:xfrm>
            <a:off x="6139607" y="1984177"/>
            <a:ext cx="2349922"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Profissionais com essas habilidades se destacam por lidar com desafios de forma organizada e eficiente</a:t>
            </a:r>
            <a:endParaRPr lang="en-US" sz="1000" dirty="0"/>
          </a:p>
        </p:txBody>
      </p:sp>
      <p:sp>
        <p:nvSpPr>
          <p:cNvPr id="17" name="Text 12"/>
          <p:cNvSpPr/>
          <p:nvPr/>
        </p:nvSpPr>
        <p:spPr>
          <a:xfrm>
            <a:off x="523577" y="3099941"/>
            <a:ext cx="809684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O pensamento computacional não se limita à programação ou à informática. Ele pode ser aplicado em diversas áreas profissionais, como engenharia, medicina, administração, economia e até mesmo nas ciências humanas.</a:t>
            </a:r>
            <a:endParaRPr lang="en-US" sz="1000" dirty="0"/>
          </a:p>
        </p:txBody>
      </p:sp>
      <p:sp>
        <p:nvSpPr>
          <p:cNvPr id="18" name="Text 13"/>
          <p:cNvSpPr/>
          <p:nvPr/>
        </p:nvSpPr>
        <p:spPr>
          <a:xfrm>
            <a:off x="523577" y="3666009"/>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4</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Os Quatro Pilares Fundamentais</a:t>
            </a:r>
            <a:endParaRPr lang="en-US" sz="4850" dirty="0"/>
          </a:p>
        </p:txBody>
      </p:sp>
      <p:sp>
        <p:nvSpPr>
          <p:cNvPr id="3" name="Text 1"/>
          <p:cNvSpPr/>
          <p:nvPr/>
        </p:nvSpPr>
        <p:spPr>
          <a:xfrm>
            <a:off x="523577" y="3263280"/>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5</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418704" y="1133847"/>
            <a:ext cx="1540073" cy="192509"/>
          </a:xfrm>
          <a:prstGeom prst="rect">
            <a:avLst/>
          </a:prstGeom>
          <a:noFill/>
          <a:ln/>
        </p:spPr>
        <p:txBody>
          <a:bodyPr wrap="none" lIns="0" tIns="0" rIns="0" bIns="0" rtlCol="0" anchor="t"/>
          <a:lstStyle/>
          <a:p>
            <a:pPr algn="r"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Decomposição</a:t>
            </a:r>
            <a:endParaRPr lang="en-US" sz="1200" dirty="0"/>
          </a:p>
        </p:txBody>
      </p:sp>
      <p:sp>
        <p:nvSpPr>
          <p:cNvPr id="3" name="Text 1"/>
          <p:cNvSpPr/>
          <p:nvPr/>
        </p:nvSpPr>
        <p:spPr>
          <a:xfrm>
            <a:off x="523577" y="1404863"/>
            <a:ext cx="2435200"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Dividir problemas complexos em partes menores e mais simples</a:t>
            </a:r>
            <a:endParaRPr lang="en-US" sz="1000" dirty="0"/>
          </a:p>
        </p:txBody>
      </p:sp>
      <p:pic>
        <p:nvPicPr>
          <p:cNvPr id="4" name="Image 0" descr="preencoded.png">    </p:cNvPr>
          <p:cNvPicPr>
            <a:picLocks noChangeAspect="1"/>
          </p:cNvPicPr>
          <p:nvPr/>
        </p:nvPicPr>
        <p:blipFill>
          <a:blip r:embed="rId1"/>
          <a:stretch>
            <a:fillRect/>
          </a:stretch>
        </p:blipFill>
        <p:spPr>
          <a:xfrm>
            <a:off x="3155082" y="871761"/>
            <a:ext cx="2833836" cy="2833836"/>
          </a:xfrm>
          <a:prstGeom prst="rect">
            <a:avLst/>
          </a:prstGeom>
        </p:spPr>
      </p:pic>
      <p:pic>
        <p:nvPicPr>
          <p:cNvPr id="5"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72719" y="1489397"/>
            <a:ext cx="195858" cy="195858"/>
          </a:xfrm>
          <a:prstGeom prst="rect">
            <a:avLst/>
          </a:prstGeom>
        </p:spPr>
      </p:pic>
      <p:sp>
        <p:nvSpPr>
          <p:cNvPr id="6" name="Text 2"/>
          <p:cNvSpPr/>
          <p:nvPr/>
        </p:nvSpPr>
        <p:spPr>
          <a:xfrm>
            <a:off x="6185222" y="1133847"/>
            <a:ext cx="1987674"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Reconhecimento de Padrões</a:t>
            </a:r>
            <a:endParaRPr lang="en-US" sz="1200" dirty="0"/>
          </a:p>
        </p:txBody>
      </p:sp>
      <p:sp>
        <p:nvSpPr>
          <p:cNvPr id="7" name="Text 3"/>
          <p:cNvSpPr/>
          <p:nvPr/>
        </p:nvSpPr>
        <p:spPr>
          <a:xfrm>
            <a:off x="6185222" y="1404863"/>
            <a:ext cx="2435200"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Identificar semelhanças e repetições em problemas ou situações</a:t>
            </a:r>
            <a:endParaRPr lang="en-US" sz="1000" dirty="0"/>
          </a:p>
        </p:txBody>
      </p:sp>
      <p:pic>
        <p:nvPicPr>
          <p:cNvPr id="8" name="Image 2" descr="preencoded.png">    </p:cNvPr>
          <p:cNvPicPr>
            <a:picLocks noChangeAspect="1"/>
          </p:cNvPicPr>
          <p:nvPr/>
        </p:nvPicPr>
        <p:blipFill>
          <a:blip r:embed="rId4"/>
          <a:stretch>
            <a:fillRect/>
          </a:stretch>
        </p:blipFill>
        <p:spPr>
          <a:xfrm>
            <a:off x="3155082" y="871761"/>
            <a:ext cx="2833836" cy="2833836"/>
          </a:xfrm>
          <a:prstGeom prst="rect">
            <a:avLst/>
          </a:prstGeom>
        </p:spPr>
      </p:pic>
      <p:pic>
        <p:nvPicPr>
          <p:cNvPr id="9"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75349" y="1489397"/>
            <a:ext cx="195858" cy="195858"/>
          </a:xfrm>
          <a:prstGeom prst="rect">
            <a:avLst/>
          </a:prstGeom>
        </p:spPr>
      </p:pic>
      <p:sp>
        <p:nvSpPr>
          <p:cNvPr id="10" name="Text 4"/>
          <p:cNvSpPr/>
          <p:nvPr/>
        </p:nvSpPr>
        <p:spPr>
          <a:xfrm>
            <a:off x="6185222" y="2544217"/>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Abstração</a:t>
            </a:r>
            <a:endParaRPr lang="en-US" sz="1200" dirty="0"/>
          </a:p>
        </p:txBody>
      </p:sp>
      <p:sp>
        <p:nvSpPr>
          <p:cNvPr id="11" name="Text 5"/>
          <p:cNvSpPr/>
          <p:nvPr/>
        </p:nvSpPr>
        <p:spPr>
          <a:xfrm>
            <a:off x="6185222" y="2815233"/>
            <a:ext cx="2435200"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Focar apenas nas informações mais importantes, ignorando detalhes irrelevantes</a:t>
            </a:r>
            <a:endParaRPr lang="en-US" sz="1000" dirty="0"/>
          </a:p>
        </p:txBody>
      </p:sp>
      <p:pic>
        <p:nvPicPr>
          <p:cNvPr id="12" name="Image 4" descr="preencoded.png">    </p:cNvPr>
          <p:cNvPicPr>
            <a:picLocks noChangeAspect="1"/>
          </p:cNvPicPr>
          <p:nvPr/>
        </p:nvPicPr>
        <p:blipFill>
          <a:blip r:embed="rId7"/>
          <a:stretch>
            <a:fillRect/>
          </a:stretch>
        </p:blipFill>
        <p:spPr>
          <a:xfrm>
            <a:off x="3155082" y="871761"/>
            <a:ext cx="2833836" cy="2833836"/>
          </a:xfrm>
          <a:prstGeom prst="rect">
            <a:avLst/>
          </a:prstGeom>
        </p:spPr>
      </p:pic>
      <p:pic>
        <p:nvPicPr>
          <p:cNvPr id="13"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75349" y="2892028"/>
            <a:ext cx="195858" cy="195858"/>
          </a:xfrm>
          <a:prstGeom prst="rect">
            <a:avLst/>
          </a:prstGeom>
        </p:spPr>
      </p:pic>
      <p:sp>
        <p:nvSpPr>
          <p:cNvPr id="14" name="Text 6"/>
          <p:cNvSpPr/>
          <p:nvPr/>
        </p:nvSpPr>
        <p:spPr>
          <a:xfrm>
            <a:off x="1418704" y="2648917"/>
            <a:ext cx="1540073" cy="192509"/>
          </a:xfrm>
          <a:prstGeom prst="rect">
            <a:avLst/>
          </a:prstGeom>
          <a:noFill/>
          <a:ln/>
        </p:spPr>
        <p:txBody>
          <a:bodyPr wrap="none" lIns="0" tIns="0" rIns="0" bIns="0" rtlCol="0" anchor="t"/>
          <a:lstStyle/>
          <a:p>
            <a:pPr algn="r"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Algoritmos</a:t>
            </a:r>
            <a:endParaRPr lang="en-US" sz="1200" dirty="0"/>
          </a:p>
        </p:txBody>
      </p:sp>
      <p:sp>
        <p:nvSpPr>
          <p:cNvPr id="15" name="Text 7"/>
          <p:cNvSpPr/>
          <p:nvPr/>
        </p:nvSpPr>
        <p:spPr>
          <a:xfrm>
            <a:off x="523577" y="2919933"/>
            <a:ext cx="2435200"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Sequências de passos para resolver problemas ou realizar tarefas</a:t>
            </a:r>
            <a:endParaRPr lang="en-US" sz="1000" dirty="0"/>
          </a:p>
        </p:txBody>
      </p:sp>
      <p:pic>
        <p:nvPicPr>
          <p:cNvPr id="16" name="Image 6" descr="preencoded.png">    </p:cNvPr>
          <p:cNvPicPr>
            <a:picLocks noChangeAspect="1"/>
          </p:cNvPicPr>
          <p:nvPr/>
        </p:nvPicPr>
        <p:blipFill>
          <a:blip r:embed="rId10"/>
          <a:stretch>
            <a:fillRect/>
          </a:stretch>
        </p:blipFill>
        <p:spPr>
          <a:xfrm>
            <a:off x="3155082" y="871761"/>
            <a:ext cx="2833836" cy="2833836"/>
          </a:xfrm>
          <a:prstGeom prst="rect">
            <a:avLst/>
          </a:prstGeom>
        </p:spPr>
      </p:pic>
      <p:pic>
        <p:nvPicPr>
          <p:cNvPr id="17"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772719" y="2892028"/>
            <a:ext cx="195858" cy="195858"/>
          </a:xfrm>
          <a:prstGeom prst="rect">
            <a:avLst/>
          </a:prstGeom>
        </p:spPr>
      </p:pic>
      <p:sp>
        <p:nvSpPr>
          <p:cNvPr id="18" name="Text 8"/>
          <p:cNvSpPr/>
          <p:nvPr/>
        </p:nvSpPr>
        <p:spPr>
          <a:xfrm>
            <a:off x="523577" y="3852862"/>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6</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Decomposição: Dividir para Conquistar</a:t>
            </a:r>
            <a:endParaRPr lang="en-US" sz="4850" dirty="0"/>
          </a:p>
        </p:txBody>
      </p:sp>
      <p:sp>
        <p:nvSpPr>
          <p:cNvPr id="3" name="Text 1"/>
          <p:cNvSpPr/>
          <p:nvPr/>
        </p:nvSpPr>
        <p:spPr>
          <a:xfrm>
            <a:off x="523577" y="3263280"/>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7</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23577" y="1004813"/>
            <a:ext cx="4730353"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 decomposição consiste em dividir um problema grande e complexo em partes menores e mais simples de serem compreendidas. Ao fragmentar um problema, torna-se mais fácil analisar cada parte individualmente e encontrar soluções específicas para cada etapa.</a:t>
            </a:r>
            <a:endParaRPr lang="en-US" sz="1000" dirty="0"/>
          </a:p>
        </p:txBody>
      </p:sp>
      <p:sp>
        <p:nvSpPr>
          <p:cNvPr id="3" name="Text 1"/>
          <p:cNvSpPr/>
          <p:nvPr/>
        </p:nvSpPr>
        <p:spPr>
          <a:xfrm>
            <a:off x="523577" y="1973312"/>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FD9BE"/>
                </a:solidFill>
                <a:latin typeface="Quattrocento" pitchFamily="34" charset="0"/>
                <a:ea typeface="Quattrocento" pitchFamily="34" charset="-122"/>
                <a:cs typeface="Quattrocento" pitchFamily="34" charset="-120"/>
              </a:rPr>
              <a:t>Aplicações Práticas</a:t>
            </a:r>
            <a:endParaRPr lang="en-US" sz="1200" dirty="0"/>
          </a:p>
        </p:txBody>
      </p:sp>
      <p:sp>
        <p:nvSpPr>
          <p:cNvPr id="4" name="Text 2"/>
          <p:cNvSpPr/>
          <p:nvPr/>
        </p:nvSpPr>
        <p:spPr>
          <a:xfrm>
            <a:off x="523577" y="2296716"/>
            <a:ext cx="4730353" cy="1347936"/>
          </a:xfrm>
          <a:prstGeom prst="rect">
            <a:avLst/>
          </a:prstGeom>
          <a:noFill/>
          <a:ln/>
        </p:spPr>
        <p:txBody>
          <a:bodyPr wrap="squar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Na engenharia, projetos complexos são divididos em diferentes etapas para facilitar o desenvolvimento</a:t>
            </a:r>
            <a:endParaRPr lang="en-US" sz="1000" dirty="0"/>
          </a:p>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Na programação, sistemas complexos são organizados em módulos menores que podem ser desenvolvidos separadamente</a:t>
            </a:r>
            <a:endParaRPr lang="en-US" sz="1000" dirty="0"/>
          </a:p>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No cotidiano, organizar um evento pode ser dividido em planejamento do local, alimentação, convites e controle de orçamento</a:t>
            </a:r>
            <a:endParaRPr lang="en-US" sz="1000" dirty="0"/>
          </a:p>
        </p:txBody>
      </p:sp>
      <p:sp>
        <p:nvSpPr>
          <p:cNvPr id="5" name="Text 3"/>
          <p:cNvSpPr/>
          <p:nvPr/>
        </p:nvSpPr>
        <p:spPr>
          <a:xfrm>
            <a:off x="5578078" y="1004813"/>
            <a:ext cx="3047107" cy="209401"/>
          </a:xfrm>
          <a:prstGeom prst="rect">
            <a:avLst/>
          </a:prstGeom>
          <a:noFill/>
          <a:ln/>
        </p:spPr>
        <p:txBody>
          <a:bodyPr wrap="none" lIns="0" tIns="0" rIns="0" bIns="0" rtlCol="0" anchor="t"/>
          <a:lstStyle/>
          <a:p>
            <a:pPr algn="l" indent="0" marL="0">
              <a:lnSpc>
                <a:spcPts val="1600"/>
              </a:lnSpc>
              <a:buNone/>
            </a:pPr>
            <a:endParaRPr lang="en-US" sz="1000" dirty="0"/>
          </a:p>
        </p:txBody>
      </p:sp>
      <p:sp>
        <p:nvSpPr>
          <p:cNvPr id="6" name="Text 4"/>
          <p:cNvSpPr/>
          <p:nvPr/>
        </p:nvSpPr>
        <p:spPr>
          <a:xfrm>
            <a:off x="523577" y="3837682"/>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8</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5685" y="1846436"/>
            <a:ext cx="7952556" cy="770037"/>
          </a:xfrm>
          <a:prstGeom prst="rect">
            <a:avLst/>
          </a:prstGeom>
          <a:noFill/>
          <a:ln/>
        </p:spPr>
        <p:txBody>
          <a:bodyPr wrap="non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Reconhecimento de Padrões</a:t>
            </a:r>
            <a:endParaRPr lang="en-US" sz="4850" dirty="0"/>
          </a:p>
        </p:txBody>
      </p:sp>
      <p:sp>
        <p:nvSpPr>
          <p:cNvPr id="3" name="Text 1"/>
          <p:cNvSpPr/>
          <p:nvPr/>
        </p:nvSpPr>
        <p:spPr>
          <a:xfrm>
            <a:off x="523577" y="2878262"/>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9</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23577" y="880318"/>
            <a:ext cx="2698924" cy="523577"/>
          </a:xfrm>
          <a:prstGeom prst="rect">
            <a:avLst/>
          </a:prstGeom>
        </p:spPr>
      </p:pic>
      <p:sp>
        <p:nvSpPr>
          <p:cNvPr id="3" name="Text 0"/>
          <p:cNvSpPr/>
          <p:nvPr/>
        </p:nvSpPr>
        <p:spPr>
          <a:xfrm>
            <a:off x="654472" y="1534790"/>
            <a:ext cx="1666801"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Identificar Semelhanças</a:t>
            </a:r>
            <a:endParaRPr lang="en-US" sz="1200" dirty="0"/>
          </a:p>
        </p:txBody>
      </p:sp>
      <p:sp>
        <p:nvSpPr>
          <p:cNvPr id="4" name="Text 1"/>
          <p:cNvSpPr/>
          <p:nvPr/>
        </p:nvSpPr>
        <p:spPr>
          <a:xfrm>
            <a:off x="654472" y="1805806"/>
            <a:ext cx="243713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Reconhecer repetições em problemas ou situações</a:t>
            </a:r>
            <a:endParaRPr lang="en-US" sz="1000" dirty="0"/>
          </a:p>
        </p:txBody>
      </p:sp>
      <p:pic>
        <p:nvPicPr>
          <p:cNvPr id="5" name="Image 1" descr="preencoded.png">    </p:cNvPr>
          <p:cNvPicPr>
            <a:picLocks noChangeAspect="1"/>
          </p:cNvPicPr>
          <p:nvPr/>
        </p:nvPicPr>
        <p:blipFill>
          <a:blip r:embed="rId2"/>
          <a:stretch>
            <a:fillRect/>
          </a:stretch>
        </p:blipFill>
        <p:spPr>
          <a:xfrm>
            <a:off x="3222501" y="880318"/>
            <a:ext cx="2698924" cy="523577"/>
          </a:xfrm>
          <a:prstGeom prst="rect">
            <a:avLst/>
          </a:prstGeom>
        </p:spPr>
      </p:pic>
      <p:sp>
        <p:nvSpPr>
          <p:cNvPr id="6" name="Text 2"/>
          <p:cNvSpPr/>
          <p:nvPr/>
        </p:nvSpPr>
        <p:spPr>
          <a:xfrm>
            <a:off x="3353395" y="1534790"/>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Reutilizar Soluções</a:t>
            </a:r>
            <a:endParaRPr lang="en-US" sz="1200" dirty="0"/>
          </a:p>
        </p:txBody>
      </p:sp>
      <p:sp>
        <p:nvSpPr>
          <p:cNvPr id="7" name="Text 3"/>
          <p:cNvSpPr/>
          <p:nvPr/>
        </p:nvSpPr>
        <p:spPr>
          <a:xfrm>
            <a:off x="3353395" y="1805806"/>
            <a:ext cx="243713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Aplicar soluções já testadas em situações semelhantes</a:t>
            </a:r>
            <a:endParaRPr lang="en-US" sz="1000" dirty="0"/>
          </a:p>
        </p:txBody>
      </p:sp>
      <p:pic>
        <p:nvPicPr>
          <p:cNvPr id="8" name="Image 2" descr="preencoded.png">    </p:cNvPr>
          <p:cNvPicPr>
            <a:picLocks noChangeAspect="1"/>
          </p:cNvPicPr>
          <p:nvPr/>
        </p:nvPicPr>
        <p:blipFill>
          <a:blip r:embed="rId3"/>
          <a:stretch>
            <a:fillRect/>
          </a:stretch>
        </p:blipFill>
        <p:spPr>
          <a:xfrm>
            <a:off x="5921425" y="880318"/>
            <a:ext cx="2698924" cy="523577"/>
          </a:xfrm>
          <a:prstGeom prst="rect">
            <a:avLst/>
          </a:prstGeom>
        </p:spPr>
      </p:pic>
      <p:sp>
        <p:nvSpPr>
          <p:cNvPr id="9" name="Text 4"/>
          <p:cNvSpPr/>
          <p:nvPr/>
        </p:nvSpPr>
        <p:spPr>
          <a:xfrm>
            <a:off x="6052319" y="1534790"/>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Otimizar Processos</a:t>
            </a:r>
            <a:endParaRPr lang="en-US" sz="1200" dirty="0"/>
          </a:p>
        </p:txBody>
      </p:sp>
      <p:sp>
        <p:nvSpPr>
          <p:cNvPr id="10" name="Text 5"/>
          <p:cNvSpPr/>
          <p:nvPr/>
        </p:nvSpPr>
        <p:spPr>
          <a:xfrm>
            <a:off x="6052319" y="1805806"/>
            <a:ext cx="243713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Reduzir tempo necessário para resolver problemas</a:t>
            </a:r>
            <a:endParaRPr lang="en-US" sz="1000" dirty="0"/>
          </a:p>
        </p:txBody>
      </p:sp>
      <p:sp>
        <p:nvSpPr>
          <p:cNvPr id="11" name="Text 6"/>
          <p:cNvSpPr/>
          <p:nvPr/>
        </p:nvSpPr>
        <p:spPr>
          <a:xfrm>
            <a:off x="523577" y="2502768"/>
            <a:ext cx="8096845"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Essa habilidade é extremamente importante na área da computação, pois permite otimizar processos e reduzir o tempo necessário para resolver problemas. Quando um programador identifica padrões em um conjunto de dados ou em um tipo de problema, ele pode criar soluções mais eficientes.</a:t>
            </a:r>
            <a:endParaRPr lang="en-US" sz="1000" dirty="0"/>
          </a:p>
        </p:txBody>
      </p:sp>
      <p:sp>
        <p:nvSpPr>
          <p:cNvPr id="12" name="Text 7"/>
          <p:cNvSpPr/>
          <p:nvPr/>
        </p:nvSpPr>
        <p:spPr>
          <a:xfrm>
            <a:off x="523577" y="3278237"/>
            <a:ext cx="809684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No cotidiano, o reconhecimento de padrões está presente ao analisar hábitos de consumo ou comportamento, identificando tendências e tomando decisões mais informadas.</a:t>
            </a:r>
            <a:endParaRPr lang="en-US" sz="1000" dirty="0"/>
          </a:p>
        </p:txBody>
      </p:sp>
      <p:sp>
        <p:nvSpPr>
          <p:cNvPr id="13" name="Text 8"/>
          <p:cNvSpPr/>
          <p:nvPr/>
        </p:nvSpPr>
        <p:spPr>
          <a:xfrm>
            <a:off x="523577" y="3844305"/>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10</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77825" y="1846436"/>
            <a:ext cx="7988350" cy="770037"/>
          </a:xfrm>
          <a:prstGeom prst="rect">
            <a:avLst/>
          </a:prstGeom>
          <a:noFill/>
          <a:ln/>
        </p:spPr>
        <p:txBody>
          <a:bodyPr wrap="non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Abstração: Foco no Essencial</a:t>
            </a:r>
            <a:endParaRPr lang="en-US" sz="4850" dirty="0"/>
          </a:p>
        </p:txBody>
      </p:sp>
      <p:sp>
        <p:nvSpPr>
          <p:cNvPr id="3" name="Text 1"/>
          <p:cNvSpPr/>
          <p:nvPr/>
        </p:nvSpPr>
        <p:spPr>
          <a:xfrm>
            <a:off x="523577" y="2878262"/>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11</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23577" y="1019175"/>
            <a:ext cx="4057055"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 abstração é o processo de focar apenas nas informações mais importantes de um problema, ignorando detalhes que não são relevantes para a solução. Esse processo permite simplificar situações complexas e facilitar a análise.</a:t>
            </a:r>
            <a:endParaRPr lang="en-US" sz="1000" dirty="0"/>
          </a:p>
        </p:txBody>
      </p:sp>
      <p:sp>
        <p:nvSpPr>
          <p:cNvPr id="3" name="Text 1"/>
          <p:cNvSpPr/>
          <p:nvPr/>
        </p:nvSpPr>
        <p:spPr>
          <a:xfrm>
            <a:off x="523577" y="1974577"/>
            <a:ext cx="4057055"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Na computação, a abstração é utilizada para representar sistemas complexos de forma simplificada. Um exemplo disso são os mapas, que representam apenas informações essenciais sobre um território, como ruas e pontos de referência.</a:t>
            </a:r>
            <a:endParaRPr lang="en-US" sz="1000" dirty="0"/>
          </a:p>
        </p:txBody>
      </p:sp>
      <p:sp>
        <p:nvSpPr>
          <p:cNvPr id="4" name="Text 2"/>
          <p:cNvSpPr/>
          <p:nvPr/>
        </p:nvSpPr>
        <p:spPr>
          <a:xfrm>
            <a:off x="523577" y="2929979"/>
            <a:ext cx="4057055"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Ao utilizar a abstração, as pessoas conseguem concentrar sua atenção nos elementos mais importantes de um problema, o que facilita o desenvolvimento de soluções eficientes.</a:t>
            </a:r>
            <a:endParaRPr lang="en-US" sz="1000" dirty="0"/>
          </a:p>
        </p:txBody>
      </p:sp>
      <p:sp>
        <p:nvSpPr>
          <p:cNvPr id="5" name="Text 3"/>
          <p:cNvSpPr/>
          <p:nvPr/>
        </p:nvSpPr>
        <p:spPr>
          <a:xfrm>
            <a:off x="4904780" y="2183978"/>
            <a:ext cx="3720405" cy="209401"/>
          </a:xfrm>
          <a:prstGeom prst="rect">
            <a:avLst/>
          </a:prstGeom>
          <a:noFill/>
          <a:ln/>
        </p:spPr>
        <p:txBody>
          <a:bodyPr wrap="none" lIns="0" tIns="0" rIns="0" bIns="0" rtlCol="0" anchor="t"/>
          <a:lstStyle/>
          <a:p>
            <a:pPr algn="l" indent="0" marL="0">
              <a:lnSpc>
                <a:spcPts val="1600"/>
              </a:lnSpc>
              <a:buNone/>
            </a:pPr>
            <a:endParaRPr lang="en-US" sz="1000" dirty="0"/>
          </a:p>
        </p:txBody>
      </p:sp>
      <p:sp>
        <p:nvSpPr>
          <p:cNvPr id="6" name="Text 4"/>
          <p:cNvSpPr/>
          <p:nvPr/>
        </p:nvSpPr>
        <p:spPr>
          <a:xfrm>
            <a:off x="523577" y="3823246"/>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12</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Algoritmos: Sequências de Ação</a:t>
            </a:r>
            <a:endParaRPr lang="en-US" sz="4850" dirty="0"/>
          </a:p>
        </p:txBody>
      </p:sp>
      <p:sp>
        <p:nvSpPr>
          <p:cNvPr id="3" name="Text 1"/>
          <p:cNvSpPr/>
          <p:nvPr/>
        </p:nvSpPr>
        <p:spPr>
          <a:xfrm>
            <a:off x="523577" y="3263280"/>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13</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23577" y="954807"/>
            <a:ext cx="261789" cy="163637"/>
          </a:xfrm>
          <a:prstGeom prst="rect">
            <a:avLst/>
          </a:prstGeom>
          <a:noFill/>
          <a:ln/>
        </p:spPr>
        <p:txBody>
          <a:bodyPr wrap="none" lIns="0" tIns="0" rIns="0" bIns="0" rtlCol="0" anchor="ctr"/>
          <a:lstStyle/>
          <a:p>
            <a:pPr algn="l" indent="0" marL="0">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01</a:t>
            </a:r>
            <a:endParaRPr lang="en-US" sz="1000" dirty="0"/>
          </a:p>
        </p:txBody>
      </p:sp>
      <p:sp>
        <p:nvSpPr>
          <p:cNvPr id="3" name="Shape 1"/>
          <p:cNvSpPr/>
          <p:nvPr/>
        </p:nvSpPr>
        <p:spPr>
          <a:xfrm>
            <a:off x="523577" y="1162943"/>
            <a:ext cx="3982938" cy="14288"/>
          </a:xfrm>
          <a:prstGeom prst="rect">
            <a:avLst/>
          </a:prstGeom>
          <a:solidFill>
            <a:srgbClr val="EF9C82"/>
          </a:solidFill>
          <a:ln/>
        </p:spPr>
      </p:sp>
      <p:sp>
        <p:nvSpPr>
          <p:cNvPr id="4" name="Text 2"/>
          <p:cNvSpPr/>
          <p:nvPr/>
        </p:nvSpPr>
        <p:spPr>
          <a:xfrm>
            <a:off x="523577" y="1256928"/>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Definir o Problema</a:t>
            </a:r>
            <a:endParaRPr lang="en-US" sz="1200" dirty="0"/>
          </a:p>
        </p:txBody>
      </p:sp>
      <p:sp>
        <p:nvSpPr>
          <p:cNvPr id="5" name="Text 3"/>
          <p:cNvSpPr/>
          <p:nvPr/>
        </p:nvSpPr>
        <p:spPr>
          <a:xfrm>
            <a:off x="523577" y="1527944"/>
            <a:ext cx="3982938"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Identificar claramente o que precisa ser resolvido ou a tarefa a ser realizada</a:t>
            </a:r>
            <a:endParaRPr lang="en-US" sz="1000" dirty="0"/>
          </a:p>
        </p:txBody>
      </p:sp>
      <p:sp>
        <p:nvSpPr>
          <p:cNvPr id="6" name="Text 4"/>
          <p:cNvSpPr/>
          <p:nvPr/>
        </p:nvSpPr>
        <p:spPr>
          <a:xfrm>
            <a:off x="4637410" y="954807"/>
            <a:ext cx="261789" cy="163637"/>
          </a:xfrm>
          <a:prstGeom prst="rect">
            <a:avLst/>
          </a:prstGeom>
          <a:noFill/>
          <a:ln/>
        </p:spPr>
        <p:txBody>
          <a:bodyPr wrap="none" lIns="0" tIns="0" rIns="0" bIns="0" rtlCol="0" anchor="ctr"/>
          <a:lstStyle/>
          <a:p>
            <a:pPr algn="l" indent="0" marL="0">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02</a:t>
            </a:r>
            <a:endParaRPr lang="en-US" sz="1000" dirty="0"/>
          </a:p>
        </p:txBody>
      </p:sp>
      <p:sp>
        <p:nvSpPr>
          <p:cNvPr id="7" name="Shape 5"/>
          <p:cNvSpPr/>
          <p:nvPr/>
        </p:nvSpPr>
        <p:spPr>
          <a:xfrm>
            <a:off x="4637410" y="1162943"/>
            <a:ext cx="3983013" cy="14288"/>
          </a:xfrm>
          <a:prstGeom prst="rect">
            <a:avLst/>
          </a:prstGeom>
          <a:solidFill>
            <a:srgbClr val="EF9C82"/>
          </a:solidFill>
          <a:ln/>
        </p:spPr>
      </p:sp>
      <p:sp>
        <p:nvSpPr>
          <p:cNvPr id="8" name="Text 6"/>
          <p:cNvSpPr/>
          <p:nvPr/>
        </p:nvSpPr>
        <p:spPr>
          <a:xfrm>
            <a:off x="4637410" y="1256928"/>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Organizar Etapas</a:t>
            </a:r>
            <a:endParaRPr lang="en-US" sz="1200" dirty="0"/>
          </a:p>
        </p:txBody>
      </p:sp>
      <p:sp>
        <p:nvSpPr>
          <p:cNvPr id="9" name="Text 7"/>
          <p:cNvSpPr/>
          <p:nvPr/>
        </p:nvSpPr>
        <p:spPr>
          <a:xfrm>
            <a:off x="4637410" y="1527944"/>
            <a:ext cx="3983013" cy="209401"/>
          </a:xfrm>
          <a:prstGeom prst="rect">
            <a:avLst/>
          </a:prstGeom>
          <a:noFill/>
          <a:ln/>
        </p:spPr>
        <p:txBody>
          <a:bodyPr wrap="non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Criar uma sequência lógica de passos que devem ser seguidos</a:t>
            </a:r>
            <a:endParaRPr lang="en-US" sz="1000" dirty="0"/>
          </a:p>
        </p:txBody>
      </p:sp>
      <p:sp>
        <p:nvSpPr>
          <p:cNvPr id="10" name="Text 8"/>
          <p:cNvSpPr/>
          <p:nvPr/>
        </p:nvSpPr>
        <p:spPr>
          <a:xfrm>
            <a:off x="523577" y="2175793"/>
            <a:ext cx="261789" cy="163637"/>
          </a:xfrm>
          <a:prstGeom prst="rect">
            <a:avLst/>
          </a:prstGeom>
          <a:noFill/>
          <a:ln/>
        </p:spPr>
        <p:txBody>
          <a:bodyPr wrap="none" lIns="0" tIns="0" rIns="0" bIns="0" rtlCol="0" anchor="ctr"/>
          <a:lstStyle/>
          <a:p>
            <a:pPr algn="l" indent="0" marL="0">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03</a:t>
            </a:r>
            <a:endParaRPr lang="en-US" sz="1000" dirty="0"/>
          </a:p>
        </p:txBody>
      </p:sp>
      <p:sp>
        <p:nvSpPr>
          <p:cNvPr id="11" name="Shape 9"/>
          <p:cNvSpPr/>
          <p:nvPr/>
        </p:nvSpPr>
        <p:spPr>
          <a:xfrm>
            <a:off x="523577" y="2383929"/>
            <a:ext cx="3982938" cy="14288"/>
          </a:xfrm>
          <a:prstGeom prst="rect">
            <a:avLst/>
          </a:prstGeom>
          <a:solidFill>
            <a:srgbClr val="EF9C82"/>
          </a:solidFill>
          <a:ln/>
        </p:spPr>
      </p:sp>
      <p:sp>
        <p:nvSpPr>
          <p:cNvPr id="12" name="Text 10"/>
          <p:cNvSpPr/>
          <p:nvPr/>
        </p:nvSpPr>
        <p:spPr>
          <a:xfrm>
            <a:off x="523577" y="2477914"/>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Garantir Clareza</a:t>
            </a:r>
            <a:endParaRPr lang="en-US" sz="1200" dirty="0"/>
          </a:p>
        </p:txBody>
      </p:sp>
      <p:sp>
        <p:nvSpPr>
          <p:cNvPr id="13" name="Text 11"/>
          <p:cNvSpPr/>
          <p:nvPr/>
        </p:nvSpPr>
        <p:spPr>
          <a:xfrm>
            <a:off x="523577" y="2748930"/>
            <a:ext cx="3982938" cy="209401"/>
          </a:xfrm>
          <a:prstGeom prst="rect">
            <a:avLst/>
          </a:prstGeom>
          <a:noFill/>
          <a:ln/>
        </p:spPr>
        <p:txBody>
          <a:bodyPr wrap="non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As instruções precisam ser claras, lógicas e executáveis</a:t>
            </a:r>
            <a:endParaRPr lang="en-US" sz="1000" dirty="0"/>
          </a:p>
        </p:txBody>
      </p:sp>
      <p:sp>
        <p:nvSpPr>
          <p:cNvPr id="14" name="Text 12"/>
          <p:cNvSpPr/>
          <p:nvPr/>
        </p:nvSpPr>
        <p:spPr>
          <a:xfrm>
            <a:off x="4637410" y="2175793"/>
            <a:ext cx="261789" cy="163637"/>
          </a:xfrm>
          <a:prstGeom prst="rect">
            <a:avLst/>
          </a:prstGeom>
          <a:noFill/>
          <a:ln/>
        </p:spPr>
        <p:txBody>
          <a:bodyPr wrap="none" lIns="0" tIns="0" rIns="0" bIns="0" rtlCol="0" anchor="ctr"/>
          <a:lstStyle/>
          <a:p>
            <a:pPr algn="l" indent="0" marL="0">
              <a:lnSpc>
                <a:spcPct val="100000"/>
              </a:lnSpc>
              <a:buNone/>
            </a:pPr>
            <a:r>
              <a:rPr lang="en-US" sz="1000" dirty="0">
                <a:solidFill>
                  <a:srgbClr val="F9EEE7"/>
                </a:solidFill>
                <a:latin typeface="Quattrocento Light" pitchFamily="34" charset="0"/>
                <a:ea typeface="Quattrocento Light" pitchFamily="34" charset="-122"/>
                <a:cs typeface="Quattrocento Light" pitchFamily="34" charset="-120"/>
              </a:rPr>
              <a:t>04</a:t>
            </a:r>
            <a:endParaRPr lang="en-US" sz="1000" dirty="0"/>
          </a:p>
        </p:txBody>
      </p:sp>
      <p:sp>
        <p:nvSpPr>
          <p:cNvPr id="15" name="Shape 13"/>
          <p:cNvSpPr/>
          <p:nvPr/>
        </p:nvSpPr>
        <p:spPr>
          <a:xfrm>
            <a:off x="4637410" y="2383929"/>
            <a:ext cx="3983013" cy="14288"/>
          </a:xfrm>
          <a:prstGeom prst="rect">
            <a:avLst/>
          </a:prstGeom>
          <a:solidFill>
            <a:srgbClr val="EF9C82"/>
          </a:solidFill>
          <a:ln/>
        </p:spPr>
      </p:sp>
      <p:sp>
        <p:nvSpPr>
          <p:cNvPr id="16" name="Text 14"/>
          <p:cNvSpPr/>
          <p:nvPr/>
        </p:nvSpPr>
        <p:spPr>
          <a:xfrm>
            <a:off x="4637410" y="2477914"/>
            <a:ext cx="1540073"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Verificar Resultado</a:t>
            </a:r>
            <a:endParaRPr lang="en-US" sz="1200" dirty="0"/>
          </a:p>
        </p:txBody>
      </p:sp>
      <p:sp>
        <p:nvSpPr>
          <p:cNvPr id="17" name="Text 15"/>
          <p:cNvSpPr/>
          <p:nvPr/>
        </p:nvSpPr>
        <p:spPr>
          <a:xfrm>
            <a:off x="4637410" y="2748930"/>
            <a:ext cx="3983013" cy="209401"/>
          </a:xfrm>
          <a:prstGeom prst="rect">
            <a:avLst/>
          </a:prstGeom>
          <a:noFill/>
          <a:ln/>
        </p:spPr>
        <p:txBody>
          <a:bodyPr wrap="non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Testar se a sequência de passos resolve o problema proposto</a:t>
            </a:r>
            <a:endParaRPr lang="en-US" sz="1000" dirty="0"/>
          </a:p>
        </p:txBody>
      </p:sp>
      <p:sp>
        <p:nvSpPr>
          <p:cNvPr id="18" name="Text 16"/>
          <p:cNvSpPr/>
          <p:nvPr/>
        </p:nvSpPr>
        <p:spPr>
          <a:xfrm>
            <a:off x="523577" y="3203749"/>
            <a:ext cx="809684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Algoritmos não estão presentes apenas na programação. No cotidiano, muitas atividades seguem uma sequência de passos que podem ser considerados algoritmos, como uma receita culinária, instruções para montar um objeto ou etapas para realizar um procedimento.</a:t>
            </a:r>
            <a:endParaRPr lang="en-US" sz="1000" dirty="0"/>
          </a:p>
        </p:txBody>
      </p:sp>
      <p:sp>
        <p:nvSpPr>
          <p:cNvPr id="19" name="Text 17"/>
          <p:cNvSpPr/>
          <p:nvPr/>
        </p:nvSpPr>
        <p:spPr>
          <a:xfrm>
            <a:off x="523577" y="3769816"/>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14</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23577" y="1461418"/>
            <a:ext cx="8096845" cy="1540073"/>
          </a:xfrm>
          <a:prstGeom prst="rect">
            <a:avLst/>
          </a:prstGeom>
          <a:noFill/>
          <a:ln/>
        </p:spPr>
        <p:txBody>
          <a:bodyPr wrap="squar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No Cotidiano e na Resolução de Problemas</a:t>
            </a:r>
            <a:endParaRPr lang="en-US" sz="4850" dirty="0"/>
          </a:p>
        </p:txBody>
      </p:sp>
      <p:sp>
        <p:nvSpPr>
          <p:cNvPr id="3" name="Text 1"/>
          <p:cNvSpPr/>
          <p:nvPr/>
        </p:nvSpPr>
        <p:spPr>
          <a:xfrm>
            <a:off x="523577" y="3263280"/>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15</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23577" y="1306190"/>
            <a:ext cx="2611636" cy="1398984"/>
          </a:xfrm>
          <a:prstGeom prst="roundRect">
            <a:avLst>
              <a:gd name="adj" fmla="val 4902"/>
            </a:avLst>
          </a:prstGeom>
          <a:solidFill>
            <a:srgbClr val="123332"/>
          </a:solidFill>
          <a:ln w="14288">
            <a:solidFill>
              <a:srgbClr val="4A6B6A"/>
            </a:solidFill>
            <a:prstDash val="solid"/>
          </a:ln>
        </p:spPr>
      </p:sp>
      <p:sp>
        <p:nvSpPr>
          <p:cNvPr id="3" name="Shape 1"/>
          <p:cNvSpPr/>
          <p:nvPr/>
        </p:nvSpPr>
        <p:spPr>
          <a:xfrm>
            <a:off x="509290" y="1306190"/>
            <a:ext cx="57150" cy="1398984"/>
          </a:xfrm>
          <a:prstGeom prst="roundRect">
            <a:avLst>
              <a:gd name="adj" fmla="val 34360"/>
            </a:avLst>
          </a:prstGeom>
          <a:solidFill>
            <a:srgbClr val="EF9C82"/>
          </a:solidFill>
          <a:ln/>
        </p:spPr>
      </p:sp>
      <p:sp>
        <p:nvSpPr>
          <p:cNvPr id="4" name="Text 2"/>
          <p:cNvSpPr/>
          <p:nvPr/>
        </p:nvSpPr>
        <p:spPr>
          <a:xfrm>
            <a:off x="711622" y="1451372"/>
            <a:ext cx="1601242"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Organização de Tarefas</a:t>
            </a:r>
            <a:endParaRPr lang="en-US" sz="1200" dirty="0"/>
          </a:p>
        </p:txBody>
      </p:sp>
      <p:sp>
        <p:nvSpPr>
          <p:cNvPr id="5" name="Text 3"/>
          <p:cNvSpPr/>
          <p:nvPr/>
        </p:nvSpPr>
        <p:spPr>
          <a:xfrm>
            <a:off x="711622" y="1722388"/>
            <a:ext cx="2278410"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Planejar atividades diárias envolve decomposição, reconhecimento de padrões e criação de sequências de ações</a:t>
            </a:r>
            <a:endParaRPr lang="en-US" sz="1000" dirty="0"/>
          </a:p>
        </p:txBody>
      </p:sp>
      <p:sp>
        <p:nvSpPr>
          <p:cNvPr id="6" name="Shape 4"/>
          <p:cNvSpPr/>
          <p:nvPr/>
        </p:nvSpPr>
        <p:spPr>
          <a:xfrm>
            <a:off x="3266108" y="1306190"/>
            <a:ext cx="2611710" cy="1398984"/>
          </a:xfrm>
          <a:prstGeom prst="roundRect">
            <a:avLst>
              <a:gd name="adj" fmla="val 4902"/>
            </a:avLst>
          </a:prstGeom>
          <a:solidFill>
            <a:srgbClr val="123332"/>
          </a:solidFill>
          <a:ln w="14288">
            <a:solidFill>
              <a:srgbClr val="4A6B6A"/>
            </a:solidFill>
            <a:prstDash val="solid"/>
          </a:ln>
        </p:spPr>
      </p:sp>
      <p:sp>
        <p:nvSpPr>
          <p:cNvPr id="7" name="Shape 5"/>
          <p:cNvSpPr/>
          <p:nvPr/>
        </p:nvSpPr>
        <p:spPr>
          <a:xfrm>
            <a:off x="3251820" y="1306190"/>
            <a:ext cx="57150" cy="1398984"/>
          </a:xfrm>
          <a:prstGeom prst="roundRect">
            <a:avLst>
              <a:gd name="adj" fmla="val 34360"/>
            </a:avLst>
          </a:prstGeom>
          <a:solidFill>
            <a:srgbClr val="EF9C82"/>
          </a:solidFill>
          <a:ln/>
        </p:spPr>
      </p:sp>
      <p:sp>
        <p:nvSpPr>
          <p:cNvPr id="8" name="Text 6"/>
          <p:cNvSpPr/>
          <p:nvPr/>
        </p:nvSpPr>
        <p:spPr>
          <a:xfrm>
            <a:off x="3454152" y="1451372"/>
            <a:ext cx="1594768"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Problemas Domésticos</a:t>
            </a:r>
            <a:endParaRPr lang="en-US" sz="1200" dirty="0"/>
          </a:p>
        </p:txBody>
      </p:sp>
      <p:sp>
        <p:nvSpPr>
          <p:cNvPr id="9" name="Text 7"/>
          <p:cNvSpPr/>
          <p:nvPr/>
        </p:nvSpPr>
        <p:spPr>
          <a:xfrm>
            <a:off x="3454152" y="1722388"/>
            <a:ext cx="2278484"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Quando um equipamento falha, analisa-se causas, testa-se soluções e elimina-se hipóteses até encontrar a origem do problema</a:t>
            </a:r>
            <a:endParaRPr lang="en-US" sz="1000" dirty="0"/>
          </a:p>
        </p:txBody>
      </p:sp>
      <p:sp>
        <p:nvSpPr>
          <p:cNvPr id="10" name="Shape 8"/>
          <p:cNvSpPr/>
          <p:nvPr/>
        </p:nvSpPr>
        <p:spPr>
          <a:xfrm>
            <a:off x="6008712" y="1306190"/>
            <a:ext cx="2611710" cy="1398984"/>
          </a:xfrm>
          <a:prstGeom prst="roundRect">
            <a:avLst>
              <a:gd name="adj" fmla="val 4902"/>
            </a:avLst>
          </a:prstGeom>
          <a:solidFill>
            <a:srgbClr val="123332"/>
          </a:solidFill>
          <a:ln w="14288">
            <a:solidFill>
              <a:srgbClr val="4A6B6A"/>
            </a:solidFill>
            <a:prstDash val="solid"/>
          </a:ln>
        </p:spPr>
      </p:sp>
      <p:sp>
        <p:nvSpPr>
          <p:cNvPr id="11" name="Shape 9"/>
          <p:cNvSpPr/>
          <p:nvPr/>
        </p:nvSpPr>
        <p:spPr>
          <a:xfrm>
            <a:off x="5994425" y="1306190"/>
            <a:ext cx="57150" cy="1398984"/>
          </a:xfrm>
          <a:prstGeom prst="roundRect">
            <a:avLst>
              <a:gd name="adj" fmla="val 34360"/>
            </a:avLst>
          </a:prstGeom>
          <a:solidFill>
            <a:srgbClr val="EF9C82"/>
          </a:solidFill>
          <a:ln/>
        </p:spPr>
      </p:sp>
      <p:sp>
        <p:nvSpPr>
          <p:cNvPr id="12" name="Text 10"/>
          <p:cNvSpPr/>
          <p:nvPr/>
        </p:nvSpPr>
        <p:spPr>
          <a:xfrm>
            <a:off x="6196757" y="1451372"/>
            <a:ext cx="1731466"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Planejamento de Viagens</a:t>
            </a:r>
            <a:endParaRPr lang="en-US" sz="1200" dirty="0"/>
          </a:p>
        </p:txBody>
      </p:sp>
      <p:sp>
        <p:nvSpPr>
          <p:cNvPr id="13" name="Text 11"/>
          <p:cNvSpPr/>
          <p:nvPr/>
        </p:nvSpPr>
        <p:spPr>
          <a:xfrm>
            <a:off x="6196757" y="1722388"/>
            <a:ext cx="2278484" cy="837605"/>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Analisa-se opções de transporte, calcula-se custos, planeja-se rotas e estabelece-se cronograma de atividades</a:t>
            </a:r>
            <a:endParaRPr lang="en-US" sz="1000" dirty="0"/>
          </a:p>
        </p:txBody>
      </p:sp>
      <p:sp>
        <p:nvSpPr>
          <p:cNvPr id="14" name="Text 12"/>
          <p:cNvSpPr/>
          <p:nvPr/>
        </p:nvSpPr>
        <p:spPr>
          <a:xfrm>
            <a:off x="523577" y="2852440"/>
            <a:ext cx="8096845" cy="418802"/>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Esses exemplos demonstram que o pensamento computacional não é exclusivo da área de tecnologia. Na verdade, ele representa uma forma estruturada de pensar que pode ser aplicada em diversas situações do dia a dia.</a:t>
            </a:r>
            <a:endParaRPr lang="en-US" sz="1000" dirty="0"/>
          </a:p>
        </p:txBody>
      </p:sp>
      <p:sp>
        <p:nvSpPr>
          <p:cNvPr id="15" name="Text 13"/>
          <p:cNvSpPr/>
          <p:nvPr/>
        </p:nvSpPr>
        <p:spPr>
          <a:xfrm>
            <a:off x="523577" y="3418508"/>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16</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491704" y="1846436"/>
            <a:ext cx="6160517" cy="770037"/>
          </a:xfrm>
          <a:prstGeom prst="rect">
            <a:avLst/>
          </a:prstGeom>
          <a:noFill/>
          <a:ln/>
        </p:spPr>
        <p:txBody>
          <a:bodyPr wrap="none" lIns="0" tIns="0" rIns="0" bIns="0" rtlCol="0" anchor="t"/>
          <a:lstStyle/>
          <a:p>
            <a:pPr algn="ctr" indent="0" marL="0">
              <a:lnSpc>
                <a:spcPts val="6050"/>
              </a:lnSpc>
              <a:buNone/>
            </a:pPr>
            <a:r>
              <a:rPr lang="en-US" sz="4850" dirty="0">
                <a:solidFill>
                  <a:srgbClr val="FFD9BE"/>
                </a:solidFill>
                <a:latin typeface="Quattrocento" pitchFamily="34" charset="0"/>
                <a:ea typeface="Quattrocento" pitchFamily="34" charset="-122"/>
                <a:cs typeface="Quattrocento" pitchFamily="34" charset="-120"/>
              </a:rPr>
              <a:t>Desafios e Conclusão</a:t>
            </a:r>
            <a:endParaRPr lang="en-US" sz="4850" dirty="0"/>
          </a:p>
        </p:txBody>
      </p:sp>
      <p:sp>
        <p:nvSpPr>
          <p:cNvPr id="3" name="Text 1"/>
          <p:cNvSpPr/>
          <p:nvPr/>
        </p:nvSpPr>
        <p:spPr>
          <a:xfrm>
            <a:off x="523577" y="2878262"/>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17</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23577" y="467841"/>
            <a:ext cx="2482453" cy="231056"/>
          </a:xfrm>
          <a:prstGeom prst="rect">
            <a:avLst/>
          </a:prstGeom>
          <a:noFill/>
          <a:ln/>
        </p:spPr>
        <p:txBody>
          <a:bodyPr wrap="none" lIns="0" tIns="0" rIns="0" bIns="0" rtlCol="0" anchor="t"/>
          <a:lstStyle/>
          <a:p>
            <a:pPr algn="l" indent="0" marL="0">
              <a:lnSpc>
                <a:spcPts val="1800"/>
              </a:lnSpc>
              <a:buNone/>
            </a:pPr>
            <a:r>
              <a:rPr lang="en-US" sz="1450" dirty="0">
                <a:solidFill>
                  <a:srgbClr val="FFD9BE"/>
                </a:solidFill>
                <a:latin typeface="Quattrocento" pitchFamily="34" charset="0"/>
                <a:ea typeface="Quattrocento" pitchFamily="34" charset="-122"/>
                <a:cs typeface="Quattrocento" pitchFamily="34" charset="-120"/>
              </a:rPr>
              <a:t>Desafios no Desenvolvimento</a:t>
            </a:r>
            <a:endParaRPr lang="en-US" sz="1450" dirty="0"/>
          </a:p>
        </p:txBody>
      </p:sp>
      <p:sp>
        <p:nvSpPr>
          <p:cNvPr id="3" name="Shape 1"/>
          <p:cNvSpPr/>
          <p:nvPr/>
        </p:nvSpPr>
        <p:spPr>
          <a:xfrm>
            <a:off x="523577" y="1030225"/>
            <a:ext cx="65410" cy="65410"/>
          </a:xfrm>
          <a:prstGeom prst="roundRect">
            <a:avLst>
              <a:gd name="adj" fmla="val 436860"/>
            </a:avLst>
          </a:prstGeom>
          <a:solidFill>
            <a:srgbClr val="EF9C82"/>
          </a:solidFill>
          <a:ln/>
        </p:spPr>
      </p:sp>
      <p:sp>
        <p:nvSpPr>
          <p:cNvPr id="4" name="Text 2"/>
          <p:cNvSpPr/>
          <p:nvPr/>
        </p:nvSpPr>
        <p:spPr>
          <a:xfrm>
            <a:off x="719882" y="960686"/>
            <a:ext cx="1742108"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Formação de Professores</a:t>
            </a:r>
            <a:endParaRPr lang="en-US" sz="1200" dirty="0"/>
          </a:p>
        </p:txBody>
      </p:sp>
      <p:sp>
        <p:nvSpPr>
          <p:cNvPr id="5" name="Text 3"/>
          <p:cNvSpPr/>
          <p:nvPr/>
        </p:nvSpPr>
        <p:spPr>
          <a:xfrm>
            <a:off x="719882" y="1231702"/>
            <a:ext cx="2393528"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Falta de formação adequada para educadores compreenderem e aplicarem o conceito em sala de aula</a:t>
            </a:r>
            <a:endParaRPr lang="en-US" sz="1000" dirty="0"/>
          </a:p>
        </p:txBody>
      </p:sp>
      <p:sp>
        <p:nvSpPr>
          <p:cNvPr id="6" name="Shape 4"/>
          <p:cNvSpPr/>
          <p:nvPr/>
        </p:nvSpPr>
        <p:spPr>
          <a:xfrm>
            <a:off x="3277046" y="1030225"/>
            <a:ext cx="65410" cy="65410"/>
          </a:xfrm>
          <a:prstGeom prst="roundRect">
            <a:avLst>
              <a:gd name="adj" fmla="val 436860"/>
            </a:avLst>
          </a:prstGeom>
          <a:solidFill>
            <a:srgbClr val="EF9C82"/>
          </a:solidFill>
          <a:ln/>
        </p:spPr>
      </p:sp>
      <p:sp>
        <p:nvSpPr>
          <p:cNvPr id="7" name="Text 5"/>
          <p:cNvSpPr/>
          <p:nvPr/>
        </p:nvSpPr>
        <p:spPr>
          <a:xfrm>
            <a:off x="3473351" y="960686"/>
            <a:ext cx="1830512"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Infraestrutura Tecnológica</a:t>
            </a:r>
            <a:endParaRPr lang="en-US" sz="1200" dirty="0"/>
          </a:p>
        </p:txBody>
      </p:sp>
      <p:sp>
        <p:nvSpPr>
          <p:cNvPr id="8" name="Text 6"/>
          <p:cNvSpPr/>
          <p:nvPr/>
        </p:nvSpPr>
        <p:spPr>
          <a:xfrm>
            <a:off x="3473351" y="1231702"/>
            <a:ext cx="2393528"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Nem todas as escolas possuem acesso adequado a computadores, softwares educacionais ou internet de qualidade</a:t>
            </a:r>
            <a:endParaRPr lang="en-US" sz="1000" dirty="0"/>
          </a:p>
        </p:txBody>
      </p:sp>
      <p:sp>
        <p:nvSpPr>
          <p:cNvPr id="9" name="Shape 7"/>
          <p:cNvSpPr/>
          <p:nvPr/>
        </p:nvSpPr>
        <p:spPr>
          <a:xfrm>
            <a:off x="6030516" y="1030225"/>
            <a:ext cx="65410" cy="65410"/>
          </a:xfrm>
          <a:prstGeom prst="roundRect">
            <a:avLst>
              <a:gd name="adj" fmla="val 436860"/>
            </a:avLst>
          </a:prstGeom>
          <a:solidFill>
            <a:srgbClr val="EF9C82"/>
          </a:solidFill>
          <a:ln/>
        </p:spPr>
      </p:sp>
      <p:sp>
        <p:nvSpPr>
          <p:cNvPr id="10" name="Text 8"/>
          <p:cNvSpPr/>
          <p:nvPr/>
        </p:nvSpPr>
        <p:spPr>
          <a:xfrm>
            <a:off x="6226820" y="960686"/>
            <a:ext cx="1715616" cy="192509"/>
          </a:xfrm>
          <a:prstGeom prst="rect">
            <a:avLst/>
          </a:prstGeom>
          <a:noFill/>
          <a:ln/>
        </p:spPr>
        <p:txBody>
          <a:bodyPr wrap="none" lIns="0" tIns="0" rIns="0" bIns="0" rtlCol="0" anchor="t"/>
          <a:lstStyle/>
          <a:p>
            <a:pPr algn="l" indent="0" marL="0">
              <a:lnSpc>
                <a:spcPts val="1500"/>
              </a:lnSpc>
              <a:buNone/>
            </a:pPr>
            <a:r>
              <a:rPr lang="en-US" sz="1200" dirty="0">
                <a:solidFill>
                  <a:srgbClr val="F9EEE7"/>
                </a:solidFill>
                <a:latin typeface="Quattrocento" pitchFamily="34" charset="0"/>
                <a:ea typeface="Quattrocento" pitchFamily="34" charset="-122"/>
                <a:cs typeface="Quattrocento" pitchFamily="34" charset="-120"/>
              </a:rPr>
              <a:t>Adaptação Metodológica</a:t>
            </a:r>
            <a:endParaRPr lang="en-US" sz="1200" dirty="0"/>
          </a:p>
        </p:txBody>
      </p:sp>
      <p:sp>
        <p:nvSpPr>
          <p:cNvPr id="11" name="Text 9"/>
          <p:cNvSpPr/>
          <p:nvPr/>
        </p:nvSpPr>
        <p:spPr>
          <a:xfrm>
            <a:off x="6226820" y="1231702"/>
            <a:ext cx="2393603"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Necessidade de abordagem educacional mais prática e baseada na resolução de problemas</a:t>
            </a:r>
            <a:endParaRPr lang="en-US" sz="1000" dirty="0"/>
          </a:p>
        </p:txBody>
      </p:sp>
      <p:sp>
        <p:nvSpPr>
          <p:cNvPr id="12" name="Shape 10"/>
          <p:cNvSpPr/>
          <p:nvPr/>
        </p:nvSpPr>
        <p:spPr>
          <a:xfrm>
            <a:off x="523577" y="2039838"/>
            <a:ext cx="8096845" cy="9748"/>
          </a:xfrm>
          <a:prstGeom prst="rect">
            <a:avLst/>
          </a:prstGeom>
          <a:solidFill>
            <a:srgbClr val="F9EEE7">
              <a:alpha val="50000"/>
            </a:srgbClr>
          </a:solidFill>
          <a:ln/>
        </p:spPr>
      </p:sp>
      <p:sp>
        <p:nvSpPr>
          <p:cNvPr id="13" name="Text 11"/>
          <p:cNvSpPr/>
          <p:nvPr/>
        </p:nvSpPr>
        <p:spPr>
          <a:xfrm>
            <a:off x="523577" y="2278559"/>
            <a:ext cx="1848148" cy="231056"/>
          </a:xfrm>
          <a:prstGeom prst="rect">
            <a:avLst/>
          </a:prstGeom>
          <a:noFill/>
          <a:ln/>
        </p:spPr>
        <p:txBody>
          <a:bodyPr wrap="none" lIns="0" tIns="0" rIns="0" bIns="0" rtlCol="0" anchor="t"/>
          <a:lstStyle/>
          <a:p>
            <a:pPr algn="l" indent="0" marL="0">
              <a:lnSpc>
                <a:spcPts val="1800"/>
              </a:lnSpc>
              <a:buNone/>
            </a:pPr>
            <a:r>
              <a:rPr lang="en-US" sz="1450" dirty="0">
                <a:solidFill>
                  <a:srgbClr val="FFD9BE"/>
                </a:solidFill>
                <a:latin typeface="Quattrocento" pitchFamily="34" charset="0"/>
                <a:ea typeface="Quattrocento" pitchFamily="34" charset="-122"/>
                <a:cs typeface="Quattrocento" pitchFamily="34" charset="-120"/>
              </a:rPr>
              <a:t>Conclusão</a:t>
            </a:r>
            <a:endParaRPr lang="en-US" sz="1450" dirty="0"/>
          </a:p>
        </p:txBody>
      </p:sp>
      <p:sp>
        <p:nvSpPr>
          <p:cNvPr id="14" name="Text 12"/>
          <p:cNvSpPr/>
          <p:nvPr/>
        </p:nvSpPr>
        <p:spPr>
          <a:xfrm>
            <a:off x="523577" y="2705919"/>
            <a:ext cx="8096845"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O pensamento computacional representa uma abordagem poderosa para a resolução de problemas em diferentes áreas do conhecimento. Ao utilizar seus pilares fundamentais — decomposição, reconhecimento de padrões, abstração e algoritmos — é possível analisar situações complexas de forma estruturada e desenvolver soluções eficientes.</a:t>
            </a:r>
            <a:endParaRPr lang="en-US" sz="1000" dirty="0"/>
          </a:p>
        </p:txBody>
      </p:sp>
      <p:sp>
        <p:nvSpPr>
          <p:cNvPr id="15" name="Text 13"/>
          <p:cNvSpPr/>
          <p:nvPr/>
        </p:nvSpPr>
        <p:spPr>
          <a:xfrm>
            <a:off x="523577" y="3481388"/>
            <a:ext cx="8096845" cy="628204"/>
          </a:xfrm>
          <a:prstGeom prst="rect">
            <a:avLst/>
          </a:prstGeom>
          <a:noFill/>
          <a:ln/>
        </p:spPr>
        <p:txBody>
          <a:bodyPr wrap="square" lIns="0" tIns="0" rIns="0" bIns="0" rtlCol="0" anchor="t"/>
          <a:lstStyle/>
          <a:p>
            <a:pPr algn="l"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Com o avanço da tecnologia e a crescente presença da informática no cotidiano, o desenvolvimento dessas habilidades torna-se cada vez mais importante. Investir no pensamento computacional é fundamental para promover inovação, eficiência e progresso em diferentes áreas da sociedade.</a:t>
            </a:r>
            <a:endParaRPr lang="en-US" sz="1000" dirty="0"/>
          </a:p>
        </p:txBody>
      </p:sp>
      <p:sp>
        <p:nvSpPr>
          <p:cNvPr id="16" name="Text 14"/>
          <p:cNvSpPr/>
          <p:nvPr/>
        </p:nvSpPr>
        <p:spPr>
          <a:xfrm>
            <a:off x="523577" y="4256856"/>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18</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23577" y="1008459"/>
            <a:ext cx="1848148" cy="231056"/>
          </a:xfrm>
          <a:prstGeom prst="rect">
            <a:avLst/>
          </a:prstGeom>
          <a:noFill/>
          <a:ln/>
        </p:spPr>
        <p:txBody>
          <a:bodyPr wrap="none" lIns="0" tIns="0" rIns="0" bIns="0" rtlCol="0" anchor="t"/>
          <a:lstStyle/>
          <a:p>
            <a:pPr algn="l" indent="0" marL="0">
              <a:lnSpc>
                <a:spcPts val="1800"/>
              </a:lnSpc>
              <a:buNone/>
            </a:pPr>
            <a:r>
              <a:rPr lang="en-US" sz="1450" dirty="0">
                <a:solidFill>
                  <a:srgbClr val="FFD9BE"/>
                </a:solidFill>
                <a:latin typeface="Quattrocento" pitchFamily="34" charset="0"/>
                <a:ea typeface="Quattrocento" pitchFamily="34" charset="-122"/>
                <a:cs typeface="Quattrocento" pitchFamily="34" charset="-120"/>
              </a:rPr>
              <a:t>Referências</a:t>
            </a:r>
            <a:endParaRPr lang="en-US" sz="1450" dirty="0"/>
          </a:p>
        </p:txBody>
      </p:sp>
      <p:sp>
        <p:nvSpPr>
          <p:cNvPr id="3" name="Text 1"/>
          <p:cNvSpPr/>
          <p:nvPr/>
        </p:nvSpPr>
        <p:spPr>
          <a:xfrm>
            <a:off x="523577" y="1501304"/>
            <a:ext cx="8096845" cy="2067669"/>
          </a:xfrm>
          <a:prstGeom prst="rect">
            <a:avLst/>
          </a:prstGeom>
          <a:noFill/>
          <a:ln/>
        </p:spPr>
        <p:txBody>
          <a:bodyPr wrap="square" lIns="0" tIns="0" rIns="0" bIns="0" rtlCol="0" anchor="t"/>
          <a:lstStyle/>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BRASIL. Ministério da Educação. Base Nacional Comum Curricular (BNCC). Disponível em: </a:t>
            </a:r>
            <a:pPr algn="l" marL="342900" indent="-342900">
              <a:lnSpc>
                <a:spcPts val="1600"/>
              </a:lnSpc>
              <a:buSzPct val="100000"/>
              <a:buChar char="•"/>
            </a:pPr>
            <a:r>
              <a:rPr lang="en-US" sz="1000" u="sng" dirty="0">
                <a:solidFill>
                  <a:srgbClr val="EF9C82"/>
                </a:solidFill>
                <a:latin typeface="Quattrocento" pitchFamily="34" charset="0"/>
                <a:ea typeface="Quattrocento" pitchFamily="34" charset="-122"/>
                <a:cs typeface="Quattrocen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http://basenacionalcomum.mec.gov.br/</a:t>
            </a:r>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COMPUTATIONAL THINKING. Disponível em: </a:t>
            </a:r>
            <a:pPr algn="l" marL="342900" indent="-342900">
              <a:lnSpc>
                <a:spcPts val="1600"/>
              </a:lnSpc>
              <a:buSzPct val="100000"/>
              <a:buChar char="•"/>
            </a:pPr>
            <a:r>
              <a:rPr lang="en-US" sz="1000" u="sng" dirty="0">
                <a:solidFill>
                  <a:srgbClr val="EF9C82"/>
                </a:solidFill>
                <a:latin typeface="Quattrocento" pitchFamily="34" charset="0"/>
                <a:ea typeface="Quattrocento" pitchFamily="34" charset="-122"/>
                <a:cs typeface="Quattrocen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https://www.computationalthinking.org/</a:t>
            </a:r>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GOOGLE. Computational Thinking for Education. Disponível em: </a:t>
            </a:r>
            <a:pPr algn="l" marL="342900" indent="-342900">
              <a:lnSpc>
                <a:spcPts val="1600"/>
              </a:lnSpc>
              <a:buSzPct val="100000"/>
              <a:buChar char="•"/>
            </a:pPr>
            <a:r>
              <a:rPr lang="en-US" sz="1000" u="sng" dirty="0">
                <a:solidFill>
                  <a:srgbClr val="EF9C82"/>
                </a:solidFill>
                <a:latin typeface="Quattrocento" pitchFamily="34" charset="0"/>
                <a:ea typeface="Quattrocento" pitchFamily="34" charset="-122"/>
                <a:cs typeface="Quattrocen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https://edu.google.com/resources/programs/exploring-computational-thinking/</a:t>
            </a:r>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PAPERT, S. Mindstorms: Children, Computers, and Powerful Ideas. Disponível em: </a:t>
            </a:r>
            <a:pPr algn="l" marL="342900" indent="-342900">
              <a:lnSpc>
                <a:spcPts val="1600"/>
              </a:lnSpc>
              <a:buSzPct val="100000"/>
              <a:buChar char="•"/>
            </a:pPr>
            <a:r>
              <a:rPr lang="en-US" sz="1000" u="sng" dirty="0">
                <a:solidFill>
                  <a:srgbClr val="EF9C82"/>
                </a:solidFill>
                <a:latin typeface="Quattrocento" pitchFamily="34" charset="0"/>
                <a:ea typeface="Quattrocento" pitchFamily="34" charset="-122"/>
                <a:cs typeface="Quattrocen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https://mitpress.mit.edu/9780465046744/mindstorms/</a:t>
            </a:r>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a:p>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WING, J. T. Computational Thinking and Thinking About Computing. Disponível em: </a:t>
            </a:r>
            <a:pPr algn="l" marL="342900" indent="-342900">
              <a:lnSpc>
                <a:spcPts val="1600"/>
              </a:lnSpc>
              <a:buSzPct val="100000"/>
              <a:buChar char="•"/>
            </a:pPr>
            <a:r>
              <a:rPr lang="en-US" sz="1000" u="sng" dirty="0">
                <a:solidFill>
                  <a:srgbClr val="EF9C82"/>
                </a:solidFill>
                <a:latin typeface="Quattrocento" pitchFamily="34" charset="0"/>
                <a:ea typeface="Quattrocento" pitchFamily="34" charset="-122"/>
                <a:cs typeface="Quattrocen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https://www.microsoft.com/en-us/research/publication/computational-thinking-and-thinking-about-computing/</a:t>
            </a:r>
            <a:pPr algn="l" marL="342900" indent="-342900">
              <a:lnSpc>
                <a:spcPts val="1600"/>
              </a:lnSpc>
              <a:buSzPct val="100000"/>
              <a:buChar char="•"/>
            </a:pPr>
            <a:r>
              <a:rPr lang="en-US" sz="1000" dirty="0">
                <a:solidFill>
                  <a:srgbClr val="F9EEE7"/>
                </a:solidFill>
                <a:latin typeface="Quattrocento" pitchFamily="34" charset="0"/>
                <a:ea typeface="Quattrocento" pitchFamily="34" charset="-122"/>
                <a:cs typeface="Quattrocento" pitchFamily="34" charset="-120"/>
              </a:rPr>
              <a:t>. Acesso em: 24 abr. 2026.</a:t>
            </a:r>
            <a:endParaRPr lang="en-US" sz="1000" dirty="0"/>
          </a:p>
        </p:txBody>
      </p:sp>
      <p:sp>
        <p:nvSpPr>
          <p:cNvPr id="4" name="Text 2"/>
          <p:cNvSpPr/>
          <p:nvPr/>
        </p:nvSpPr>
        <p:spPr>
          <a:xfrm>
            <a:off x="523577" y="3716238"/>
            <a:ext cx="8096845" cy="418802"/>
          </a:xfrm>
          <a:prstGeom prst="rect">
            <a:avLst/>
          </a:prstGeom>
          <a:noFill/>
          <a:ln/>
        </p:spPr>
        <p:txBody>
          <a:bodyPr wrap="square" lIns="0" tIns="0" rIns="0" bIns="0" rtlCol="0" anchor="t"/>
          <a:lstStyle/>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19</a:t>
            </a:r>
            <a:endParaRPr lang="en-US" sz="1000" dirty="0"/>
          </a:p>
          <a:p>
            <a:pPr algn="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CPS - ETECVAV</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2953941" y="906810"/>
            <a:ext cx="3236044" cy="384944"/>
          </a:xfrm>
          <a:prstGeom prst="rect">
            <a:avLst/>
          </a:prstGeom>
          <a:noFill/>
          <a:ln/>
        </p:spPr>
        <p:txBody>
          <a:bodyPr wrap="none" lIns="0" tIns="0" rIns="0" bIns="0" rtlCol="0" anchor="t"/>
          <a:lstStyle/>
          <a:p>
            <a:pPr algn="ctr" indent="0" marL="0">
              <a:lnSpc>
                <a:spcPts val="3000"/>
              </a:lnSpc>
              <a:buNone/>
            </a:pPr>
            <a:r>
              <a:rPr lang="en-US" sz="2400" dirty="0">
                <a:solidFill>
                  <a:srgbClr val="FFD9BE"/>
                </a:solidFill>
                <a:latin typeface="Quattrocento" pitchFamily="34" charset="0"/>
                <a:ea typeface="Quattrocento" pitchFamily="34" charset="-122"/>
                <a:cs typeface="Quattrocento" pitchFamily="34" charset="-120"/>
              </a:rPr>
              <a:t>Obrigado pela Atenção!</a:t>
            </a:r>
            <a:endParaRPr lang="en-US" sz="2400" dirty="0"/>
          </a:p>
        </p:txBody>
      </p:sp>
      <p:sp>
        <p:nvSpPr>
          <p:cNvPr id="3" name="Text 1"/>
          <p:cNvSpPr/>
          <p:nvPr/>
        </p:nvSpPr>
        <p:spPr>
          <a:xfrm>
            <a:off x="523577" y="1553542"/>
            <a:ext cx="8096845" cy="209401"/>
          </a:xfrm>
          <a:prstGeom prst="rect">
            <a:avLst/>
          </a:prstGeom>
          <a:noFill/>
          <a:ln/>
        </p:spPr>
        <p:txBody>
          <a:bodyPr wrap="none" lIns="0" tIns="0" rIns="0" bIns="0" rtlCol="0" anchor="t"/>
          <a:lstStyle/>
          <a:p>
            <a:pPr algn="ctr" indent="0" marL="0">
              <a:lnSpc>
                <a:spcPts val="1600"/>
              </a:lnSpc>
              <a:buNone/>
            </a:pPr>
            <a:endParaRPr lang="en-US" sz="1000" dirty="0"/>
          </a:p>
        </p:txBody>
      </p:sp>
      <p:sp>
        <p:nvSpPr>
          <p:cNvPr id="4" name="Text 2"/>
          <p:cNvSpPr/>
          <p:nvPr/>
        </p:nvSpPr>
        <p:spPr>
          <a:xfrm>
            <a:off x="523577" y="1910209"/>
            <a:ext cx="8096845" cy="209401"/>
          </a:xfrm>
          <a:prstGeom prst="rect">
            <a:avLst/>
          </a:prstGeom>
          <a:noFill/>
          <a:ln/>
        </p:spPr>
        <p:txBody>
          <a:bodyPr wrap="none" lIns="0" tIns="0" rIns="0" bIns="0" rtlCol="0" anchor="t"/>
          <a:lstStyle/>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Uma abordagem estruturada para resolver problemas complexos no mundo digital</a:t>
            </a:r>
            <a:endParaRPr lang="en-US" sz="1000" dirty="0"/>
          </a:p>
        </p:txBody>
      </p:sp>
      <p:sp>
        <p:nvSpPr>
          <p:cNvPr id="5" name="Text 3"/>
          <p:cNvSpPr/>
          <p:nvPr/>
        </p:nvSpPr>
        <p:spPr>
          <a:xfrm>
            <a:off x="523577" y="2266876"/>
            <a:ext cx="8096845" cy="209401"/>
          </a:xfrm>
          <a:prstGeom prst="rect">
            <a:avLst/>
          </a:prstGeom>
          <a:noFill/>
          <a:ln/>
        </p:spPr>
        <p:txBody>
          <a:bodyPr wrap="none" lIns="0" tIns="0" rIns="0" bIns="0" rtlCol="0" anchor="t"/>
          <a:lstStyle/>
          <a:p>
            <a:pPr algn="ctr" indent="0" marL="0">
              <a:lnSpc>
                <a:spcPts val="1600"/>
              </a:lnSpc>
              <a:buNone/>
            </a:pPr>
            <a:endParaRPr lang="en-US" sz="1000" dirty="0"/>
          </a:p>
        </p:txBody>
      </p:sp>
      <p:sp>
        <p:nvSpPr>
          <p:cNvPr id="6" name="Text 4"/>
          <p:cNvSpPr/>
          <p:nvPr/>
        </p:nvSpPr>
        <p:spPr>
          <a:xfrm>
            <a:off x="523577" y="2623542"/>
            <a:ext cx="8096845" cy="1256407"/>
          </a:xfrm>
          <a:prstGeom prst="rect">
            <a:avLst/>
          </a:prstGeom>
          <a:noFill/>
          <a:ln/>
        </p:spPr>
        <p:txBody>
          <a:bodyPr wrap="square" lIns="0" tIns="0" rIns="0" bIns="0" rtlCol="0" anchor="t"/>
          <a:lstStyle/>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Arthur Muniz de Andrade</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Emanuel  Albuquerque de Almeida Finamore</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Gustavo Henrique Ribeiro Cecato</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João Paulo Camargo Olivieri</a:t>
            </a:r>
            <a:endParaRPr lang="en-US" sz="1000" dirty="0"/>
          </a:p>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Tiago Silva Siqueira</a:t>
            </a:r>
            <a:endParaRPr lang="en-US" sz="1000" dirty="0"/>
          </a:p>
        </p:txBody>
      </p:sp>
      <p:sp>
        <p:nvSpPr>
          <p:cNvPr id="7" name="Text 5"/>
          <p:cNvSpPr/>
          <p:nvPr/>
        </p:nvSpPr>
        <p:spPr>
          <a:xfrm>
            <a:off x="523577" y="4027215"/>
            <a:ext cx="8096845" cy="209401"/>
          </a:xfrm>
          <a:prstGeom prst="rect">
            <a:avLst/>
          </a:prstGeom>
          <a:noFill/>
          <a:ln/>
        </p:spPr>
        <p:txBody>
          <a:bodyPr wrap="none" lIns="0" tIns="0" rIns="0" bIns="0" rtlCol="0" anchor="t"/>
          <a:lstStyle/>
          <a:p>
            <a:pPr algn="ctr" indent="0" marL="0">
              <a:lnSpc>
                <a:spcPts val="1600"/>
              </a:lnSpc>
              <a:buNone/>
            </a:pPr>
            <a:r>
              <a:rPr lang="en-US" sz="1000" dirty="0">
                <a:solidFill>
                  <a:srgbClr val="F9EEE7"/>
                </a:solidFill>
                <a:latin typeface="Quattrocento" pitchFamily="34" charset="0"/>
                <a:ea typeface="Quattrocento" pitchFamily="34" charset="-122"/>
                <a:cs typeface="Quattrocento" pitchFamily="34" charset="-120"/>
              </a:rPr>
              <a:t>Jundiaí,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2026-05-15T14:17:32Z</dcterms:created>
  <dcterms:modified xsi:type="dcterms:W3CDTF">2026-05-15T14:17:32Z</dcterms:modified>
</cp:coreProperties>
</file>